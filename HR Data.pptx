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4F4F"/>
    <a:srgbClr val="4CAF50"/>
    <a:srgbClr val="DFF2E1"/>
    <a:srgbClr val="00BCD4"/>
    <a:srgbClr val="F2F2F2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BEA0-7685-5F52-F718-3F8EB591D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E527-1310-BFA1-74E2-2C2533DCA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4F9FD-1CB2-740D-AF01-8F365298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FC0B2-2FDC-BB50-AD50-EB2A1BE0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A6859-BD0F-434A-A12B-BCE8F909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91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DFC7-F456-D2AF-176A-A7FDA86D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2B4BA-B248-7C1E-FC40-C16BA9CD5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3C932-B8DA-0FF9-D8F5-93202ED6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F6B9-5DEA-FF72-A190-87DF9601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F0BB-9AAE-23A8-FAF8-46FA113D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98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17E6-A3F8-F9F1-C9A8-CB7E4361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40CF1-C9AB-D3A4-3A42-422D9CF10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979E3-9F03-828B-E1C5-4EB5C7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F638-609B-55C1-4F3D-31E12688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BE272-90F3-3B21-07DC-6082173A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82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4D46-2D23-9A31-9516-5EEB8717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7FFEF-58B5-2598-D8DC-9D5348534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EFE7B-CB46-8EE5-1DC6-FF33B8403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AC714-40B2-63F4-E88D-3266BA42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2938F-35BB-C0A3-935E-67C9CE33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CE454-F253-B0ED-21FD-37FDF9C6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0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E09E-B62A-3DD4-05AF-25F0FB12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0BC16-3466-4731-699A-27DD851EC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FA3CC-9001-C8F8-9DEC-33B7ED660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E0043-FDFF-FFCE-AF66-705D38519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FCAC0-CBA7-2CB0-8776-A39A69587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40511-3AF1-961E-5263-9980CFD3C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5BE4B-9B7A-5CDD-1CD6-C073D5EC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78CF3-5301-B05C-FAB9-7C7CE127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10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E4AC-27FF-72B1-1C4F-9E30F109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3A788-D9E9-ADA4-80DB-8378C72E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20C2F-FA55-D85A-788F-C065BC3D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6CE5A-7E6F-DDE5-2C20-1FA72D4A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53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0E87F-3B65-CD0F-2F45-45AB9438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C3D74-E3DF-4845-3E12-85EA1C36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72CE1-CF1C-FACA-382B-0628F8F5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28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6A45-0B73-57B4-AC4D-7CEAE904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64CB7-7496-FAAB-96F2-1B569FAC7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23F6B-B6B2-1F01-9145-E54A24C10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02F4-CD4C-8527-DEF0-D35EA16B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52854-6C57-3DBF-CFDE-1FA6C87F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A300D-FE98-5809-DB34-CDA0E998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14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4273-55B0-D5F4-5167-AA31201F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D439E-F3E8-250F-CC7F-93262046E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91251-63B2-75C5-6178-305347D4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7E7EC-B9A9-6388-93A5-4410323F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1E179-0509-A5BC-D5D0-917EFC07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1A816-DC36-4794-9050-4E529E68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4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C8A7-6621-0D72-28CF-F0BD2344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4AE00-7EED-4854-365C-8FF2634E9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20B06-FEC9-FCB3-8ED9-2B9970A1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B8A3F-C0CD-6239-2185-8F3A8023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FBCAC-EED8-BEA0-C61C-0AA2B3E7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56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0E82F-BDEE-DEC2-5D4E-8733380D4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DE47F-AEAC-2CA6-67BA-EFCB0579C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B72F6-62BE-4401-2821-385F2AE6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3BF88-5E14-6402-97F4-6CD0B0B43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E2B35-EF64-493B-D8F0-C143B57A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6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B28D14-6A6F-7B64-F9A4-54141E654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99B06-E49E-F411-F74D-62EC75AF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6E99A-9AE3-919F-70D2-B95A49188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5B153-8A70-4BC0-93D1-28E76C6E5DEB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417D-3D54-EBB0-DD7B-EFA206541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CAE63-390D-37EB-C303-231D1CDC5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68E2F-61E8-4E88-8D6E-C20DB75B9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33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3C551DD-0504-6A37-FACC-A37249F93E67}"/>
              </a:ext>
            </a:extLst>
          </p:cNvPr>
          <p:cNvGrpSpPr/>
          <p:nvPr/>
        </p:nvGrpSpPr>
        <p:grpSpPr>
          <a:xfrm>
            <a:off x="6432000" y="-55259"/>
            <a:ext cx="5760000" cy="4735258"/>
            <a:chOff x="6432000" y="-55259"/>
            <a:chExt cx="5760000" cy="4735258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5D6E9986-7C72-9632-0D30-A2876FD2890F}"/>
                </a:ext>
              </a:extLst>
            </p:cNvPr>
            <p:cNvSpPr/>
            <p:nvPr/>
          </p:nvSpPr>
          <p:spPr>
            <a:xfrm rot="10800000">
              <a:off x="6432000" y="-1"/>
              <a:ext cx="5760000" cy="4680000"/>
            </a:xfrm>
            <a:prstGeom prst="rt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7CF0E7B8-4CCC-476D-9669-16F1343B8307}"/>
                </a:ext>
              </a:extLst>
            </p:cNvPr>
            <p:cNvSpPr/>
            <p:nvPr/>
          </p:nvSpPr>
          <p:spPr>
            <a:xfrm rot="10800000">
              <a:off x="6791999" y="-55259"/>
              <a:ext cx="5400000" cy="4320000"/>
            </a:xfrm>
            <a:prstGeom prst="rtTriangle">
              <a:avLst/>
            </a:prstGeom>
            <a:solidFill>
              <a:srgbClr val="DFF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4454F3C-B94A-EFB8-BBA3-5C376B70409C}"/>
              </a:ext>
            </a:extLst>
          </p:cNvPr>
          <p:cNvGrpSpPr/>
          <p:nvPr/>
        </p:nvGrpSpPr>
        <p:grpSpPr>
          <a:xfrm>
            <a:off x="0" y="45627"/>
            <a:ext cx="7560000" cy="6840000"/>
            <a:chOff x="0" y="45627"/>
            <a:chExt cx="7560000" cy="6840000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233FC7F6-C3B0-FA53-6C5B-1186C186A23A}"/>
                </a:ext>
              </a:extLst>
            </p:cNvPr>
            <p:cNvSpPr/>
            <p:nvPr/>
          </p:nvSpPr>
          <p:spPr>
            <a:xfrm>
              <a:off x="0" y="45627"/>
              <a:ext cx="7560000" cy="6840000"/>
            </a:xfrm>
            <a:prstGeom prst="rt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EDD5E793-EF5D-41A6-19C7-E9C0C2A7B150}"/>
                </a:ext>
              </a:extLst>
            </p:cNvPr>
            <p:cNvSpPr/>
            <p:nvPr/>
          </p:nvSpPr>
          <p:spPr>
            <a:xfrm>
              <a:off x="0" y="405627"/>
              <a:ext cx="7200000" cy="6480000"/>
            </a:xfrm>
            <a:prstGeom prst="rtTriangle">
              <a:avLst/>
            </a:prstGeom>
            <a:solidFill>
              <a:srgbClr val="DFF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97E947-5396-6F6A-761C-B00B060E4517}"/>
                </a:ext>
              </a:extLst>
            </p:cNvPr>
            <p:cNvSpPr txBox="1"/>
            <p:nvPr/>
          </p:nvSpPr>
          <p:spPr>
            <a:xfrm>
              <a:off x="468087" y="3428998"/>
              <a:ext cx="442182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PRDA – 03 </a:t>
              </a:r>
              <a:br>
                <a:rPr lang="en-US" sz="36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</a:br>
              <a:r>
                <a:rPr lang="en-US" sz="36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HR Analytics</a:t>
              </a:r>
              <a:endParaRPr lang="en-IN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3DAF9C-71E2-8A21-BA8A-E2CF5E2A7975}"/>
                </a:ext>
              </a:extLst>
            </p:cNvPr>
            <p:cNvSpPr txBox="1"/>
            <p:nvPr/>
          </p:nvSpPr>
          <p:spPr>
            <a:xfrm>
              <a:off x="468087" y="4680000"/>
              <a:ext cx="60960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Key Insights &amp; Strategic Suggestions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Project Team ID : PTID-CDA-JUN-25-548</a:t>
              </a:r>
              <a:b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</a:br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Presented by: 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			Suraj Kumar Hembram. 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			Mani Kiran 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			Patlolla Suprith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2631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0B656-2AD7-5444-B82D-B0173160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F58856-D41E-8721-F0CB-B84C72BC45D3}"/>
              </a:ext>
            </a:extLst>
          </p:cNvPr>
          <p:cNvGrpSpPr/>
          <p:nvPr/>
        </p:nvGrpSpPr>
        <p:grpSpPr>
          <a:xfrm>
            <a:off x="9111700" y="-2633359"/>
            <a:ext cx="5760000" cy="4735258"/>
            <a:chOff x="6432000" y="-55259"/>
            <a:chExt cx="5760000" cy="4735258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8B106A49-87A8-0550-075C-4808F7A47AF0}"/>
                </a:ext>
              </a:extLst>
            </p:cNvPr>
            <p:cNvSpPr/>
            <p:nvPr/>
          </p:nvSpPr>
          <p:spPr>
            <a:xfrm rot="10800000">
              <a:off x="6432000" y="-1"/>
              <a:ext cx="5760000" cy="4680000"/>
            </a:xfrm>
            <a:prstGeom prst="rt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804F96BC-2FF7-D0F0-7814-19A8E19218F5}"/>
                </a:ext>
              </a:extLst>
            </p:cNvPr>
            <p:cNvSpPr/>
            <p:nvPr/>
          </p:nvSpPr>
          <p:spPr>
            <a:xfrm rot="10800000">
              <a:off x="6791999" y="-55259"/>
              <a:ext cx="5400000" cy="4320000"/>
            </a:xfrm>
            <a:prstGeom prst="rtTriangle">
              <a:avLst/>
            </a:prstGeom>
            <a:solidFill>
              <a:srgbClr val="DFF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CF6357B-F348-BBDD-A465-C67EAF351B26}"/>
              </a:ext>
            </a:extLst>
          </p:cNvPr>
          <p:cNvGrpSpPr/>
          <p:nvPr/>
        </p:nvGrpSpPr>
        <p:grpSpPr>
          <a:xfrm>
            <a:off x="-4079631" y="3429000"/>
            <a:ext cx="7560000" cy="6840000"/>
            <a:chOff x="0" y="45627"/>
            <a:chExt cx="7560000" cy="6840000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1E414C54-0E68-7A0E-D7A7-9C82E0328D82}"/>
                </a:ext>
              </a:extLst>
            </p:cNvPr>
            <p:cNvSpPr/>
            <p:nvPr/>
          </p:nvSpPr>
          <p:spPr>
            <a:xfrm>
              <a:off x="0" y="45627"/>
              <a:ext cx="7560000" cy="6840000"/>
            </a:xfrm>
            <a:prstGeom prst="rt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E0360C03-3663-6750-EEE2-8D9F79434EFE}"/>
                </a:ext>
              </a:extLst>
            </p:cNvPr>
            <p:cNvSpPr/>
            <p:nvPr/>
          </p:nvSpPr>
          <p:spPr>
            <a:xfrm>
              <a:off x="0" y="405627"/>
              <a:ext cx="7200000" cy="6480000"/>
            </a:xfrm>
            <a:prstGeom prst="rtTriangle">
              <a:avLst/>
            </a:prstGeom>
            <a:solidFill>
              <a:srgbClr val="DFF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8C8EEA-D6A5-7C0D-0E42-CCB2AB9CEFDF}"/>
                </a:ext>
              </a:extLst>
            </p:cNvPr>
            <p:cNvSpPr txBox="1"/>
            <p:nvPr/>
          </p:nvSpPr>
          <p:spPr>
            <a:xfrm>
              <a:off x="468087" y="3428998"/>
              <a:ext cx="442182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PRDA – 03 </a:t>
              </a:r>
              <a:br>
                <a:rPr lang="en-US" sz="36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</a:br>
              <a:r>
                <a:rPr lang="en-US" sz="36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HR Analytics</a:t>
              </a:r>
              <a:endParaRPr lang="en-IN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82F54C-E384-7263-88DA-782767E6E3B8}"/>
                </a:ext>
              </a:extLst>
            </p:cNvPr>
            <p:cNvSpPr txBox="1"/>
            <p:nvPr/>
          </p:nvSpPr>
          <p:spPr>
            <a:xfrm>
              <a:off x="468087" y="4680000"/>
              <a:ext cx="60960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Key Insights &amp; Strategic Suggestions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Project Team ID : PTID-CDA-JUN-25-548</a:t>
              </a:r>
              <a:b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</a:br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Presented by: 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			Suraj Kumar Hembram. 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			Mani Kiran </a:t>
              </a:r>
            </a:p>
            <a:p>
              <a:r>
                <a:rPr lang="en-US" sz="2000" b="1" dirty="0">
                  <a:solidFill>
                    <a:srgbClr val="2F4F4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			Patlolla Suprith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F464FD4-FDC2-380B-4055-430AB1B17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560" y="7634603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453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AEF9CEB1-6B84-39FA-7B3B-EE84D38B4595}"/>
              </a:ext>
            </a:extLst>
          </p:cNvPr>
          <p:cNvSpPr/>
          <p:nvPr/>
        </p:nvSpPr>
        <p:spPr>
          <a:xfrm>
            <a:off x="511279" y="260990"/>
            <a:ext cx="4031224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08852-9DD2-28A3-8BB5-9D4557E6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📊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Overview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F092-522C-1AA8-AAED-AF6BE7ED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: Present actionable insights from workforce data</a:t>
            </a:r>
          </a:p>
          <a:p>
            <a:r>
              <a:rPr lang="en-US" sz="3200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Focus areas:</a:t>
            </a:r>
          </a:p>
          <a:p>
            <a:pPr lvl="1"/>
            <a:r>
              <a:rPr lang="en-US" sz="2800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Workforce demographics</a:t>
            </a:r>
          </a:p>
          <a:p>
            <a:pPr lvl="1"/>
            <a:r>
              <a:rPr lang="en-US" sz="2800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Departmental analysis</a:t>
            </a:r>
          </a:p>
          <a:p>
            <a:pPr lvl="1"/>
            <a:r>
              <a:rPr lang="en-US" sz="2800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Strategic recommendations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7BF8C2-A280-B178-C7B0-AC0B9D59C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B026E-17FA-904F-0200-D2ADA6F7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800" y="7675726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49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8E11584-C380-AB2D-0B9F-68A37014D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977" y="4057891"/>
            <a:ext cx="2520000" cy="25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685FC6-AF12-89BE-23ED-124536AF3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9657" y="4057891"/>
            <a:ext cx="2520000" cy="252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AC7618-7137-92DF-879F-946DC08ED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977" y="7151611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59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661A9998-FEC6-F0E5-32E9-DBDF4F2F9DDF}"/>
              </a:ext>
            </a:extLst>
          </p:cNvPr>
          <p:cNvSpPr/>
          <p:nvPr/>
        </p:nvSpPr>
        <p:spPr>
          <a:xfrm>
            <a:off x="511279" y="260990"/>
            <a:ext cx="6636774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26822-403D-CC4E-6C3C-7D3846F9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👥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Workforce Distribution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51927-00CD-ED54-E38E-1E8023C1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Total Employees: 22,210</a:t>
            </a:r>
          </a:p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Active Employees: 19,000</a:t>
            </a:r>
          </a:p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Gender Split: 50.9% Male, 50.9% Female</a:t>
            </a:r>
          </a:p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Location: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Headquarters: 75.08%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Remote Workers: 24.92%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917F7-299D-FA4C-1855-40878EF08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930E05-852E-A428-849C-EF8D8D212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160" y="3656963"/>
            <a:ext cx="2520000" cy="25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F0460B-3CC5-4F43-81FE-4397EA6AF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800" y="7068341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89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D8AAFB28-7CBD-6452-B983-3EE47D31F06C}"/>
              </a:ext>
            </a:extLst>
          </p:cNvPr>
          <p:cNvSpPr/>
          <p:nvPr/>
        </p:nvSpPr>
        <p:spPr>
          <a:xfrm>
            <a:off x="511279" y="260990"/>
            <a:ext cx="5584721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06602-EB35-3455-7BE2-6141DE25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🎯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Age &amp; Experience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D82C-A2D7-4029-7B91-52A4FFA77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Average Age of Active Employees: 38.44 years</a:t>
            </a:r>
          </a:p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Implication: Experienced and mature workforce</a:t>
            </a:r>
          </a:p>
          <a:p>
            <a:r>
              <a:rPr lang="en-US" dirty="0">
                <a:solidFill>
                  <a:srgbClr val="333333"/>
                </a:solidFill>
                <a:latin typeface="Georgia Pro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Opportunity: Tap into tenure and expertise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425F5-D879-AA44-4873-DF298CD5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166DB1-1CBA-1630-3269-EC1A9AE27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8120" y="3656963"/>
            <a:ext cx="2520000" cy="25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D5ACD-2E2F-1A6A-51F4-F82F8B727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800" y="7101203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51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255E71F3-3DE6-7EA3-D6FE-DFA984983157}"/>
              </a:ext>
            </a:extLst>
          </p:cNvPr>
          <p:cNvSpPr/>
          <p:nvPr/>
        </p:nvSpPr>
        <p:spPr>
          <a:xfrm>
            <a:off x="511279" y="260990"/>
            <a:ext cx="6430295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F5A83-4C44-0457-599C-9AE3F42AC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🌍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Diversity &amp; Inclusion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80F2C-3811-797B-5A1E-2068852ED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Representation across racial and ethnic backgrounds</a:t>
            </a:r>
          </a:p>
          <a:p>
            <a:r>
              <a:rPr lang="en-US" dirty="0">
                <a:latin typeface="Georgia Pro" panose="02040502050405020303" pitchFamily="18" charset="0"/>
              </a:rPr>
              <a:t>Benefits:</a:t>
            </a:r>
          </a:p>
          <a:p>
            <a:pPr lvl="1"/>
            <a:r>
              <a:rPr lang="en-US" dirty="0">
                <a:latin typeface="Georgia Pro" panose="02040502050405020303" pitchFamily="18" charset="0"/>
              </a:rPr>
              <a:t>Diverse perspectives</a:t>
            </a:r>
          </a:p>
          <a:p>
            <a:pPr lvl="1"/>
            <a:r>
              <a:rPr lang="en-US" dirty="0">
                <a:latin typeface="Georgia Pro" panose="02040502050405020303" pitchFamily="18" charset="0"/>
              </a:rPr>
              <a:t>Increased innovation</a:t>
            </a:r>
          </a:p>
          <a:p>
            <a:r>
              <a:rPr lang="en-US" dirty="0">
                <a:latin typeface="Georgia Pro" panose="02040502050405020303" pitchFamily="18" charset="0"/>
              </a:rPr>
              <a:t>Strategic focus: Continue expanding inclusion </a:t>
            </a:r>
          </a:p>
          <a:p>
            <a:pPr marL="0" indent="0">
              <a:buNone/>
            </a:pPr>
            <a:r>
              <a:rPr lang="en-US" dirty="0">
                <a:latin typeface="Georgia Pro" panose="02040502050405020303" pitchFamily="18" charset="0"/>
              </a:rPr>
              <a:t>initiatives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7611BC-5FCF-5FF3-59F4-177FF345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E30122-7D02-DFF3-A789-B283721FE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8120" y="3809363"/>
            <a:ext cx="2520000" cy="25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A5832E-95E4-AA1E-8F4D-0EE0A3FAD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200" y="7710803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01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D4247D08-AD6A-1B0B-D5DC-0A775A4550A2}"/>
              </a:ext>
            </a:extLst>
          </p:cNvPr>
          <p:cNvSpPr/>
          <p:nvPr/>
        </p:nvSpPr>
        <p:spPr>
          <a:xfrm>
            <a:off x="511278" y="260990"/>
            <a:ext cx="7049727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25E85-569B-46EE-3764-83EA0A4A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🧪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Departmental Snapshot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DD78-1A43-23C7-5048-3190B456E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Largest Department: Engineering (5,854 employees)</a:t>
            </a:r>
          </a:p>
          <a:p>
            <a:r>
              <a:rPr lang="en-US" dirty="0">
                <a:latin typeface="Georgia Pro" panose="02040502050405020303" pitchFamily="18" charset="0"/>
              </a:rPr>
              <a:t>Insight: Strong technical emphasis</a:t>
            </a:r>
          </a:p>
          <a:p>
            <a:r>
              <a:rPr lang="en-US" dirty="0">
                <a:latin typeface="Georgia Pro" panose="02040502050405020303" pitchFamily="18" charset="0"/>
              </a:rPr>
              <a:t>Recommendation: Balance support across departments</a:t>
            </a:r>
          </a:p>
          <a:p>
            <a:endParaRPr lang="en-IN" dirty="0">
              <a:latin typeface="Georgia Pro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AAF745-AA97-3F43-8AA5-CA01EC4F8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789549-F5C0-842D-C3F5-58E6B2DA4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8560" y="3809363"/>
            <a:ext cx="2520000" cy="25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C20E89-5D16-47C1-01DC-968444467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200" y="7162163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8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3E541362-2491-BD79-F0B6-E930995001D8}"/>
              </a:ext>
            </a:extLst>
          </p:cNvPr>
          <p:cNvSpPr/>
          <p:nvPr/>
        </p:nvSpPr>
        <p:spPr>
          <a:xfrm>
            <a:off x="511278" y="260990"/>
            <a:ext cx="7944463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A6B4B-A74F-197F-7A1F-41664E37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🏡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 - Remote Work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ECAE4-847F-FE4E-2089-E3C843A34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Current remote population: ~25%</a:t>
            </a:r>
          </a:p>
          <a:p>
            <a:r>
              <a:rPr lang="en-US" dirty="0">
                <a:latin typeface="Georgia Pro" panose="02040502050405020303" pitchFamily="18" charset="0"/>
              </a:rPr>
              <a:t>Suggestion: Expand remote options</a:t>
            </a:r>
          </a:p>
          <a:p>
            <a:r>
              <a:rPr lang="en-US" dirty="0">
                <a:latin typeface="Georgia Pro" panose="02040502050405020303" pitchFamily="18" charset="0"/>
              </a:rPr>
              <a:t>Enhance flexibility</a:t>
            </a:r>
          </a:p>
          <a:p>
            <a:r>
              <a:rPr lang="en-US" dirty="0">
                <a:latin typeface="Georgia Pro" panose="02040502050405020303" pitchFamily="18" charset="0"/>
              </a:rPr>
              <a:t>Attract broader talent pool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CCA9FE-C88F-DA13-C735-D41124C6D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69683-73D7-2BD3-F00C-F8A4118CD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6640" y="3809363"/>
            <a:ext cx="2520000" cy="25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5366E2-E554-17FC-44D6-F6FAF5B37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800" y="7284406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77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C17A0B7E-EECC-D2B7-03C1-20ADFEC27677}"/>
              </a:ext>
            </a:extLst>
          </p:cNvPr>
          <p:cNvSpPr/>
          <p:nvPr/>
        </p:nvSpPr>
        <p:spPr>
          <a:xfrm>
            <a:off x="511278" y="260990"/>
            <a:ext cx="9861753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CBE65-1C47-663B-FC65-CAA1A66F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💡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 - Mentorship Programs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FB5A-2F2A-13BB-0269-150CA08AA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Leverage experienced employees</a:t>
            </a:r>
          </a:p>
          <a:p>
            <a:r>
              <a:rPr lang="en-US" dirty="0">
                <a:latin typeface="Georgia Pro" panose="02040502050405020303" pitchFamily="18" charset="0"/>
              </a:rPr>
              <a:t>Facilitate knowledge sharing</a:t>
            </a:r>
          </a:p>
          <a:p>
            <a:r>
              <a:rPr lang="en-US" dirty="0">
                <a:latin typeface="Georgia Pro" panose="02040502050405020303" pitchFamily="18" charset="0"/>
              </a:rPr>
              <a:t>Bridge gaps between generations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3673E4-CFBC-1261-0F59-C77C09047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87766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2A188F-195E-BC0C-0B9C-68321C91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320" y="3656963"/>
            <a:ext cx="2520000" cy="25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CB2D6E-BB95-230C-FDF4-C09EBBB28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871" y="7158562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02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BEB5A5-CDC0-0E44-946A-45A8899C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755" y="5965722"/>
            <a:ext cx="681368" cy="681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E3A79-0379-2F6B-D8DB-1C0E8C30D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2750" y="3445722"/>
            <a:ext cx="2520000" cy="25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797FA-C6CE-E6F3-4264-FAEC0946F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755" y="7231151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05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3864E1E2-72A0-EB13-21B9-AE20F08A454A}"/>
              </a:ext>
            </a:extLst>
          </p:cNvPr>
          <p:cNvSpPr/>
          <p:nvPr/>
        </p:nvSpPr>
        <p:spPr>
          <a:xfrm>
            <a:off x="511279" y="260990"/>
            <a:ext cx="9438966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48905-375F-3E5E-7ACA-ECE29C40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🧭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 - Data &amp; Visualization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1193A-A6A8-F8EF-9CBE-5F8E5FD7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Invest in dynamic data visualization tools</a:t>
            </a:r>
          </a:p>
          <a:p>
            <a:r>
              <a:rPr lang="en-US" dirty="0">
                <a:latin typeface="Georgia Pro" panose="02040502050405020303" pitchFamily="18" charset="0"/>
              </a:rPr>
              <a:t>Benefits:</a:t>
            </a:r>
          </a:p>
          <a:p>
            <a:r>
              <a:rPr lang="en-US" dirty="0">
                <a:latin typeface="Georgia Pro" panose="02040502050405020303" pitchFamily="18" charset="0"/>
              </a:rPr>
              <a:t>Trend analysis</a:t>
            </a:r>
          </a:p>
          <a:p>
            <a:r>
              <a:rPr lang="en-US" dirty="0">
                <a:latin typeface="Georgia Pro" panose="02040502050405020303" pitchFamily="18" charset="0"/>
              </a:rPr>
              <a:t>Strategic decision-making</a:t>
            </a:r>
          </a:p>
          <a:p>
            <a:r>
              <a:rPr lang="en-US" dirty="0">
                <a:latin typeface="Georgia Pro" panose="02040502050405020303" pitchFamily="18" charset="0"/>
              </a:rPr>
              <a:t>Easier communication of insights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1090B1-0834-847F-BA6C-F11EE5F8C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6DF281-03A0-A93C-246C-052A15906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254" y="3656963"/>
            <a:ext cx="2520000" cy="25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CCB71-C8ED-B7E9-36CB-68EC48601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800" y="7234609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2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CB08BCBD-E1D3-567C-8176-E8CFA3979D84}"/>
              </a:ext>
            </a:extLst>
          </p:cNvPr>
          <p:cNvSpPr/>
          <p:nvPr/>
        </p:nvSpPr>
        <p:spPr>
          <a:xfrm>
            <a:off x="511279" y="260990"/>
            <a:ext cx="6331973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2AE43-2638-BEB2-A8AB-F1FF2F8B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🔄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Ongoing Monitoring</a:t>
            </a:r>
            <a:endParaRPr lang="en-IN" sz="4000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8AA44-1DD0-5B7E-BB2F-5DACC7315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Regularly review HR metrics</a:t>
            </a:r>
          </a:p>
          <a:p>
            <a:r>
              <a:rPr lang="en-US" dirty="0">
                <a:latin typeface="Georgia Pro" panose="02040502050405020303" pitchFamily="18" charset="0"/>
              </a:rPr>
              <a:t>Adapt to workforce shifts</a:t>
            </a:r>
          </a:p>
          <a:p>
            <a:r>
              <a:rPr lang="en-US" dirty="0">
                <a:latin typeface="Georgia Pro" panose="02040502050405020303" pitchFamily="18" charset="0"/>
              </a:rPr>
              <a:t>Maintain alignment with business goals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06B1B7-6DDF-0C66-D85C-100BDA72E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F2D0EE-CD3C-224B-DA46-47FC7B257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179" y="3760203"/>
            <a:ext cx="2520000" cy="25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97A9C-6075-44AD-C50B-D86953833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800" y="725558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92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969F7A23-C2BC-172A-F047-E3751FD838F4}"/>
              </a:ext>
            </a:extLst>
          </p:cNvPr>
          <p:cNvSpPr/>
          <p:nvPr/>
        </p:nvSpPr>
        <p:spPr>
          <a:xfrm>
            <a:off x="511280" y="260990"/>
            <a:ext cx="4080386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5EEE3-A404-74E8-3140-766140DB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  <a:endParaRPr lang="en-IN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8370-36A1-ADDC-ADE8-2486F3817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 Pro" panose="02040502050405020303" pitchFamily="18" charset="0"/>
              </a:rPr>
              <a:t>Optimizing workforce management</a:t>
            </a:r>
          </a:p>
          <a:p>
            <a:r>
              <a:rPr lang="en-US" dirty="0">
                <a:latin typeface="Georgia Pro" panose="02040502050405020303" pitchFamily="18" charset="0"/>
              </a:rPr>
              <a:t>Supporting employee satisfaction</a:t>
            </a:r>
          </a:p>
          <a:p>
            <a:r>
              <a:rPr lang="en-US" dirty="0">
                <a:latin typeface="Georgia Pro" panose="02040502050405020303" pitchFamily="18" charset="0"/>
              </a:rPr>
              <a:t>Strategic alignment with long-term 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B9B3C-22E6-71C7-6DBF-10880692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00" y="3656963"/>
            <a:ext cx="2520000" cy="25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E12E52-4B77-1070-28C9-B0C589011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7835" y="3809363"/>
            <a:ext cx="2520000" cy="25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55B70-B878-D16A-23B8-4C0A61D81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844" y="7042594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82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27CDCB64-2539-35FB-B261-932A6D546645}"/>
              </a:ext>
            </a:extLst>
          </p:cNvPr>
          <p:cNvSpPr/>
          <p:nvPr/>
        </p:nvSpPr>
        <p:spPr>
          <a:xfrm>
            <a:off x="511280" y="260990"/>
            <a:ext cx="4198372" cy="1533832"/>
          </a:xfrm>
          <a:prstGeom prst="horizontalScroll">
            <a:avLst/>
          </a:prstGeom>
          <a:solidFill>
            <a:srgbClr val="4CAF50"/>
          </a:solidFill>
          <a:ln>
            <a:solidFill>
              <a:srgbClr val="2F4F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DFF2E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13E7B-7326-D39B-5F18-63BEC421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🙏</a:t>
            </a:r>
            <a:r>
              <a:rPr lang="en-US" sz="4000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solidFill>
                  <a:srgbClr val="2F4F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</a:t>
            </a:r>
            <a:endParaRPr lang="en-IN" dirty="0">
              <a:solidFill>
                <a:srgbClr val="2F4F4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600DC-35DD-F491-6346-0EBA1544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We sincerely appreciate your time and attention in reviewing our HR Data Analytics insights.</a:t>
            </a:r>
          </a:p>
          <a:p>
            <a:pPr marL="0" indent="0">
              <a:buNone/>
            </a:pPr>
            <a:endParaRPr lang="en-US" b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eorgia" panose="02040502050405020303" pitchFamily="18" charset="0"/>
              </a:rPr>
              <a:t>– Suraj Kumar Hembram, Mani Kiran, Patlolla Suprith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i="1" dirty="0">
                <a:latin typeface="Georgia" panose="02040502050405020303" pitchFamily="18" charset="0"/>
              </a:rPr>
              <a:t>Project Team ID: </a:t>
            </a:r>
            <a:r>
              <a:rPr lang="en-US" i="1" dirty="0">
                <a:latin typeface="Georgia Pro" panose="02040502050405020303" pitchFamily="18" charset="0"/>
              </a:rPr>
              <a:t>PTID-CDA-JUN-25-548</a:t>
            </a:r>
            <a:endParaRPr lang="en-US" dirty="0">
              <a:latin typeface="Georgia Pro" panose="02040502050405020303" pitchFamily="18" charset="0"/>
            </a:endParaRPr>
          </a:p>
          <a:p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16651-B702-B9EA-4196-31D1EFCF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90" y="4151900"/>
            <a:ext cx="2160000" cy="216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367007-1FE4-C9A7-4203-C2B993BDA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280" y="379190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8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318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Georgia</vt:lpstr>
      <vt:lpstr>Georgia Pro</vt:lpstr>
      <vt:lpstr>Segoe UI Semibold</vt:lpstr>
      <vt:lpstr>Office Theme</vt:lpstr>
      <vt:lpstr>PowerPoint Presentation</vt:lpstr>
      <vt:lpstr>PowerPoint Presentation</vt:lpstr>
      <vt:lpstr>📊 Overview</vt:lpstr>
      <vt:lpstr>PowerPoint Presentation</vt:lpstr>
      <vt:lpstr>👥Workforce Distribution</vt:lpstr>
      <vt:lpstr>🎯Age &amp; Experience</vt:lpstr>
      <vt:lpstr>🌍Diversity &amp; Inclusion</vt:lpstr>
      <vt:lpstr>🧪Departmental Snapshot</vt:lpstr>
      <vt:lpstr>🏡Suggestions - Remote Work</vt:lpstr>
      <vt:lpstr>💡Suggestions - Mentorship Programs</vt:lpstr>
      <vt:lpstr>PowerPoint Presentation</vt:lpstr>
      <vt:lpstr>🧭Suggestions - Data &amp; Visualization</vt:lpstr>
      <vt:lpstr>🔄Ongoing Monitoring</vt:lpstr>
      <vt:lpstr>✅Conclusion</vt:lpstr>
      <vt:lpstr>🙏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kumar Hembram</dc:creator>
  <cp:lastModifiedBy>Suraj kumar Hembram</cp:lastModifiedBy>
  <cp:revision>10</cp:revision>
  <dcterms:created xsi:type="dcterms:W3CDTF">2025-07-04T05:26:22Z</dcterms:created>
  <dcterms:modified xsi:type="dcterms:W3CDTF">2025-07-04T15:41:29Z</dcterms:modified>
</cp:coreProperties>
</file>